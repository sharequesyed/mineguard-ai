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1695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1890FF"/>
                </a:solidFill>
                <a:latin typeface="Arial"/>
              </a:rPr>
              <a:t>Problem Statement ID: SIH26025
</a:t>
            </a:r>
            <a:r>
              <a:rPr sz="1300" b="1">
                <a:solidFill>
                  <a:srgbClr val="000000"/>
                </a:solidFill>
                <a:latin typeface="Arial"/>
              </a:rPr>
              <a:t>Problem Statement Title: Development of an AI-enabled Low Cost Real Time Mine Subsidence Monitoring, Prediction and Early Warning System for Underground Coal Mines in India
</a:t>
            </a:r>
            <a:r>
              <a:rPr sz="1200" b="0">
                <a:solidFill>
                  <a:srgbClr val="595959"/>
                </a:solidFill>
                <a:latin typeface="Arial"/>
              </a:rPr>
              <a:t>Theme: Smart Automation / Safety &amp; Security / Disaster Management
</a:t>
            </a:r>
            <a:r>
              <a:rPr sz="1200" b="0">
                <a:solidFill>
                  <a:srgbClr val="595959"/>
                </a:solidFill>
                <a:latin typeface="Arial"/>
              </a:rPr>
              <a:t>PS Category: Software &amp; Hardware (Hybrid IoT-AI System)
</a:t>
            </a:r>
            <a:r>
              <a:rPr sz="1400" b="1">
                <a:solidFill>
                  <a:srgbClr val="1890FF"/>
                </a:solidFill>
                <a:latin typeface="Arial"/>
              </a:rPr>
              <a:t>Team ID: SIH2026-MINENOVA6
</a:t>
            </a:r>
            <a:r>
              <a:rPr sz="1600" b="1">
                <a:solidFill>
                  <a:srgbClr val="DC2626"/>
                </a:solidFill>
                <a:latin typeface="Arial"/>
              </a:rPr>
              <a:t>Team Name (Registered on Portal): MineNova6
</a:t>
            </a:r>
            <a:r>
              <a:rPr sz="1100" b="0">
                <a:solidFill>
                  <a:srgbClr val="595959"/>
                </a:solidFill>
                <a:latin typeface="Arial"/>
              </a:rPr>
              <a:t>Team Members: Shareque (Lead), Monika (Research), Aditya (UI/UX), Farhan (Frontend), Atharva (Backend), Affan (AI/ML)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MineGuard AI — Real-Time Mine Subsidence Early Warning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1400" b="1">
                <a:solidFill>
                  <a:srgbClr val="1890FF"/>
                </a:solidFill>
                <a:latin typeface="Arial"/>
              </a:rPr>
              <a:t>Proposed Solution &amp; Architectural Highlights:
</a:t>
            </a:r>
            <a:r>
              <a:rPr sz="1100" b="0">
                <a:solidFill>
                  <a:srgbClr val="000000"/>
                </a:solidFill>
                <a:latin typeface="Arial"/>
              </a:rPr>
              <a:t>• Wireless ESP32 LoRa Mesh: Deploys 868MHz nodes tracking roof tilt, sag displacement, crack growth, and load stress without fragile cabling.
</a:t>
            </a:r>
            <a:r>
              <a:rPr sz="1100" b="0">
                <a:solidFill>
                  <a:srgbClr val="000000"/>
                </a:solidFill>
                <a:latin typeface="Arial"/>
              </a:rPr>
              <a:t>• AI Subsidence Predictor: Random Forest ML engine correlates 10 telemetric parameters, prioritizing 5-min velocity (Δdisp/Δt) to catch Stage-1 micro-sagging.
</a:t>
            </a:r>
            <a:r>
              <a:rPr sz="1100" b="0">
                <a:solidFill>
                  <a:srgbClr val="000000"/>
                </a:solidFill>
                <a:latin typeface="Arial"/>
              </a:rPr>
              <a:t>• React Command Center: Web dashboard featuring an interactive Leaflet underground seam map, 60 FPS rolling charts, and SIH Live Emergency Simulator.
</a:t>
            </a:r>
            <a:r>
              <a:rPr sz="1100" b="0">
                <a:solidFill>
                  <a:srgbClr val="000000"/>
                </a:solidFill>
                <a:latin typeface="Arial"/>
              </a:rPr>
              <a:t>• Dual Edge &amp; Cloud Alarms: Triggers local 1kHz piezo sirens at the mine face independently during network outages, plus instant web alerts.
</a:t>
            </a:r>
            <a:r>
              <a:rPr sz="1400" b="1">
                <a:solidFill>
                  <a:srgbClr val="1890FF"/>
                </a:solidFill>
                <a:latin typeface="Arial"/>
              </a:rPr>
              <a:t>Why We Stand Out?
</a:t>
            </a:r>
            <a:r>
              <a:rPr sz="1100" b="0">
                <a:solidFill>
                  <a:srgbClr val="000000"/>
                </a:solidFill>
                <a:latin typeface="Arial"/>
              </a:rPr>
              <a:t>1. Velocity-Weighted AI: Predicts roof sag in Stage 1 using 5-min rate of change (MAE: 1.27, R²: 0.9969).
</a:t>
            </a:r>
            <a:r>
              <a:rPr sz="1100" b="0">
                <a:solidFill>
                  <a:srgbClr val="000000"/>
                </a:solidFill>
                <a:latin typeface="Arial"/>
              </a:rPr>
              <a:t>2. 98.8% Cost Reduction: ₹1,590/node ($19) vs ₹50,000+ cabled legacy sensors. Full 6-node panel setup for ₹11,990.
</a:t>
            </a:r>
            <a:r>
              <a:rPr sz="1100" b="0">
                <a:solidFill>
                  <a:srgbClr val="000000"/>
                </a:solidFill>
                <a:latin typeface="Arial"/>
              </a:rPr>
              <a:t>3. Non-Line-Of-Sight Telemetry: 868MHz LoRa Chirp Spread Spectrum penetrates 2km solid rock/coal strata.
</a:t>
            </a:r>
            <a:r>
              <a:rPr sz="1100" b="0">
                <a:solidFill>
                  <a:srgbClr val="000000"/>
                </a:solidFill>
                <a:latin typeface="Arial"/>
              </a:rPr>
              <a:t>4. Fail-Safe Dual Edge Siren Resilience: ESP32 MCU fires local piezo sirens on GPIO 12/13 automatically during internet outages.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109728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MineNova6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503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91440"/>
            <a:ext cx="1554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rial"/>
              </a:rPr>
              <a:t>SIH 2026 OFFICIAL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64008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21792"/>
            <a:ext cx="2468880" cy="34747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BACKEND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051560"/>
            <a:ext cx="320040" cy="3291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3200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Docker Container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051560"/>
            <a:ext cx="2926080" cy="3291840"/>
          </a:xfrm>
          <a:prstGeom prst="roundRect">
            <a:avLst/>
          </a:prstGeom>
          <a:solidFill>
            <a:srgbClr val="E6F7FF"/>
          </a:solidFill>
          <a:ln w="19050">
            <a:solidFill>
              <a:srgbClr val="91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12801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143000"/>
            <a:ext cx="1280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TimescaleDB / SQLite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2.5s IoT telemetry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1143000"/>
            <a:ext cx="1371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143000"/>
            <a:ext cx="1371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PostgreSQL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Relational ORM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2743200" cy="45720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7830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D46B08"/>
                </a:solidFill>
                <a:latin typeface="Arial"/>
              </a:rPr>
              <a:t>Python FastAPI REST &amp; WebSocket Server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Async ASGI Event Loop &amp; Pydantic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31720"/>
            <a:ext cx="12801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31720"/>
            <a:ext cx="1280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IoT Ingestion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2331720"/>
            <a:ext cx="1371600" cy="41148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33172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46B08"/>
                </a:solidFill>
                <a:latin typeface="Arial"/>
              </a:rPr>
              <a:t>🐍 AI Inference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34640"/>
            <a:ext cx="2743200" cy="502920"/>
          </a:xfrm>
          <a:prstGeom prst="roundRect">
            <a:avLst/>
          </a:prstGeom>
          <a:solidFill>
            <a:srgbClr val="BAE7FF"/>
          </a:solidFill>
          <a:ln w="12700">
            <a:solidFill>
              <a:srgbClr val="6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34640"/>
            <a:ext cx="2743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050B3"/>
                </a:solidFill>
                <a:latin typeface="Arial"/>
              </a:rPr>
              <a:t>🚨 SIH Emergency Simulator Service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One-Click Stress Simulation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29000"/>
            <a:ext cx="2743200" cy="411480"/>
          </a:xfrm>
          <a:prstGeom prst="roundRect">
            <a:avLst/>
          </a:prstGeom>
          <a:solidFill>
            <a:srgbClr val="F6FFED"/>
          </a:solidFill>
          <a:ln w="12700">
            <a:solidFill>
              <a:srgbClr val="B7E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2743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89E0D"/>
                </a:solidFill>
                <a:latin typeface="Arial"/>
              </a:rPr>
              <a:t>ESP32 LoRa Gateway Ingestion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1051560"/>
            <a:ext cx="274320" cy="3291840"/>
          </a:xfrm>
          <a:prstGeom prst="round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1188720"/>
            <a:ext cx="27432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API GATEWAY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1051560"/>
            <a:ext cx="22860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" y="457200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53712"/>
            <a:ext cx="2377440" cy="34747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 SUBSIDENCE PREDICTOR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83480"/>
            <a:ext cx="3474720" cy="68580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FE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34747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Random Forest ML Engine (MAE: 1.27 | R²: 0.9969)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• Evaluates 10 parameters (tilt, sag, load, temp, hum).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Velocity Weighting (42% Weight): Prioritizes 5-min Δdisp/Δt &amp; Δtilt/Δt to catch Stage-1 micro-sagging before collapse.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983480"/>
            <a:ext cx="320040" cy="1371600"/>
          </a:xfrm>
          <a:prstGeom prst="roundRect">
            <a:avLst/>
          </a:prstGeom>
          <a:solidFill>
            <a:srgbClr val="6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5212080"/>
            <a:ext cx="320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FASTAPI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0" y="64008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621792"/>
            <a:ext cx="1645920" cy="320040"/>
          </a:xfrm>
          <a:prstGeom prst="round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MINE SAFETY ADMIN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105156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1051560"/>
            <a:ext cx="3657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Efficient Task &amp; Strata Management with Web App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• Digitizes DGMS Strata Management Plans (SMP).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• Zero Trust Intranet Access &amp; Centralized Worker Shift Allotment.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Automatic PDF Compliance Reports.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0" y="192024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1901952"/>
            <a:ext cx="219456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UNDERGROUND COAL SEAM</a:t>
            </a:r>
          </a:p>
        </p:txBody>
      </p:sp>
      <p:pic>
        <p:nvPicPr>
          <p:cNvPr id="40" name="Picture 39" descr="mine_subsidenc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86000"/>
            <a:ext cx="3749039" cy="210312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4572000" y="448056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4462272"/>
            <a:ext cx="210312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ESP32 LORA SENSOR 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0" y="4846320"/>
            <a:ext cx="3749039" cy="155448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846320"/>
            <a:ext cx="3749039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46B08"/>
                </a:solidFill>
                <a:latin typeface="Arial"/>
              </a:rPr>
              <a:t>Hardware Sensor Node Suite (₹1,590/node):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ESP32 32-bit MCU Board + SX1276 LoRa 868MHz Transceiver (2km range).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MPU6050 Gyro/Accel: Roof tilt θx, θy &amp; vibration acceleration.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Linear String Potentiometer: Roof sag displacement (0-50mm).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HX711 Load Cell Amp: Hydraulic prop stress (0-200kN).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Edge Failover: Triggers local 1kHz piezo siren (GPIO 12/13) on network loss.</a:t>
            </a:r>
          </a:p>
        </p:txBody>
      </p:sp>
      <p:sp>
        <p:nvSpPr>
          <p:cNvPr id="45" name="Oval 44"/>
          <p:cNvSpPr/>
          <p:nvPr/>
        </p:nvSpPr>
        <p:spPr>
          <a:xfrm>
            <a:off x="8503920" y="64008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621792"/>
            <a:ext cx="228600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STRATA CONTROL ENGINEER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10515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1051560"/>
            <a:ext cx="3383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890FF"/>
                </a:solidFill>
                <a:latin typeface="Arial"/>
              </a:rPr>
              <a:t>React 18 Command Center Dashboard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Stack: React 18, Vite, Tailwind CSS, Recharts 60 FPS, Leaflet Map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Interactive Underground Seam Map: Node badges N1-N6 over Jharia Coalfield #4.</a:t>
            </a:r>
          </a:p>
          <a:p>
            <a:pPr algn="l">
              <a:spcAft>
                <a:spcPts val="100"/>
              </a:spcAft>
            </a:pPr>
            <a:r>
              <a:rPr sz="850" b="1">
                <a:solidFill>
                  <a:srgbClr val="1890FF"/>
                </a:solidFill>
                <a:latin typeface="Arial"/>
              </a:rPr>
              <a:t>• SIH Live Emergency Simulator: 1-click subsidence event demo.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Velocity-Weighted Warnings: Detects pre-failure sagging in Stage 1.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Real-Time 60 FPS Graphs: Rolling tilt, sag, and load curves.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Shift Allotment &amp; Handover Approvals.</a:t>
            </a:r>
          </a:p>
        </p:txBody>
      </p:sp>
      <p:sp>
        <p:nvSpPr>
          <p:cNvPr id="49" name="Oval 48"/>
          <p:cNvSpPr/>
          <p:nvPr/>
        </p:nvSpPr>
        <p:spPr>
          <a:xfrm>
            <a:off x="8503920" y="356616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3547872"/>
            <a:ext cx="228600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SHIFT OPERATORS &amp; SIRENS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3931920"/>
            <a:ext cx="3383280" cy="246888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FE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3931920"/>
            <a:ext cx="33832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Mobile App &amp; Edge Evacuation Sirens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Stack: SQLite, BLoC, Flutter / Handheld Devices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C2626"/>
                </a:solidFill>
                <a:latin typeface="Arial"/>
              </a:rPr>
              <a:t>• 🔊 1kHz Local Piezo Siren Alarms: Instant audio warnings at mine face.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Quick summary of assigned shifts, tasks, and sag risk alerts.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Log details about tasks, issues, and prop load during rounds.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Multilingual Indian languages &amp; smart voice-assisted logging.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1890FF"/>
                </a:solidFill>
                <a:latin typeface="Arial"/>
              </a:rPr>
              <a:t>• Live Vercel Deployment: https://mineguard-ai.vercel.app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MineGuard AI - @SIH Idea Submission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379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FEASIBILITY, RISK ANALYSIS &amp;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ensor_node_final_produ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645920"/>
            <a:ext cx="4389120" cy="244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