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1695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1890FF"/>
                </a:solidFill>
                <a:latin typeface="Arial"/>
              </a:rPr>
              <a:t>Problem Statement ID: SIH26025
</a:t>
            </a:r>
            <a:r>
              <a:rPr sz="1300" b="1">
                <a:solidFill>
                  <a:srgbClr val="000000"/>
                </a:solidFill>
                <a:latin typeface="Arial"/>
              </a:rPr>
              <a:t>Problem Statement Title: Development of an AI-enabled Low Cost Real Time Mine Subsidence Monitoring, Prediction and Early Warning System for Underground Coal Mines in India
</a:t>
            </a:r>
            <a:r>
              <a:rPr sz="1200" b="0">
                <a:solidFill>
                  <a:srgbClr val="595959"/>
                </a:solidFill>
                <a:latin typeface="Arial"/>
              </a:rPr>
              <a:t>Theme: Smart Automation / Safety &amp; Security / Disaster Management
</a:t>
            </a:r>
            <a:r>
              <a:rPr sz="1200" b="0">
                <a:solidFill>
                  <a:srgbClr val="595959"/>
                </a:solidFill>
                <a:latin typeface="Arial"/>
              </a:rPr>
              <a:t>PS Category: Software &amp; Hardware (Hybrid IoT-AI System)
</a:t>
            </a:r>
            <a:r>
              <a:rPr sz="1400" b="1">
                <a:solidFill>
                  <a:srgbClr val="1890FF"/>
                </a:solidFill>
                <a:latin typeface="Arial"/>
              </a:rPr>
              <a:t>Team ID: SIH2026-MINENOVA6
</a:t>
            </a:r>
            <a:r>
              <a:rPr sz="1600" b="1">
                <a:solidFill>
                  <a:srgbClr val="DC2626"/>
                </a:solidFill>
                <a:latin typeface="Arial"/>
              </a:rPr>
              <a:t>Team Name (Registered on Portal): MineNova6
</a:t>
            </a:r>
            <a:r>
              <a:rPr sz="1100" b="0">
                <a:solidFill>
                  <a:srgbClr val="595959"/>
                </a:solidFill>
                <a:latin typeface="Arial"/>
              </a:rPr>
              <a:t>Team Members: Shareque (Lead), Monika (Research), Aditya (UI/UX), Farhan (Frontend), Atharva (Backend), Affan (AI/ML)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109728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MineNova6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MINEGUARD AI — SOLUTION &amp;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"/>
            <a:ext cx="1097280" cy="3657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685800"/>
            <a:ext cx="5943600" cy="5669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760720" cy="5394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890FF"/>
                </a:solidFill>
                <a:latin typeface="Arial"/>
              </a:rPr>
              <a:t>Proposed Solution Overview: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• Wireless ESP32 LoRa Sensor Mesh: Tracks roof tilt, sag displacement, crack growth, and load stress without fragile cabling.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• AI Subsidence Predictor: Random Forest ML engine correlates 10 parameters, prioritizing 5-min velocity (Δdisp/Δt) to catch Stage-1 micro-sagging.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• React Command Center: Web dashboard with Leaflet seam map, 60 FPS rolling charts, and SIH Emergency Simulator.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• Edge &amp; Cloud Dual Sirens: Triggers 1kHz local piezo sirens at mine face independently during network outages.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• Tailored for Indian Coalfields: Replaces reactive cabled monitoring with predictive warnings for Jharia &amp; Raniganj.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• 100% Functional MVP: Validated with live hardware LoRa telemetry and real-time dashboard sync.
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WHY WE STAND OUT?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1. Velocity-Weighted AI: Predicts roof sag in Stage 1 using 5-min rate of change (MAE: 1.27, R²: 0.9969).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2. 98.8% Cost Reduction: ₹1,590/node ($19) vs ₹50,000+ cabled legacy sensors. Full 6-node panel for ₹11,990.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3. Non-Line-Of-Sight Telemetry: 868MHz LoRa Chirp Spread Spectrum penetrates 2km solid rock strata.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4. Fail-Safe Dual Edge Siren Resilience: ESP32 MCU fires local sirens on GPIO 12/13 automatically during outages.</a:t>
            </a:r>
          </a:p>
        </p:txBody>
      </p:sp>
      <p:pic>
        <p:nvPicPr>
          <p:cNvPr id="8" name="Picture 7" descr="prototype_white_the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685800"/>
            <a:ext cx="5486400" cy="5669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MineGuard AI - @SIH Idea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379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109728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MineNova6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503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91440"/>
            <a:ext cx="1554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rial"/>
              </a:rPr>
              <a:t>SIH 2026 OFFICIAL</a:t>
            </a:r>
          </a:p>
        </p:txBody>
      </p:sp>
      <p:sp>
        <p:nvSpPr>
          <p:cNvPr id="6" name="Oval 5"/>
          <p:cNvSpPr/>
          <p:nvPr/>
        </p:nvSpPr>
        <p:spPr>
          <a:xfrm>
            <a:off x="274320" y="64008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21792"/>
            <a:ext cx="2468880" cy="34747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BACKEND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1051560"/>
            <a:ext cx="320040" cy="3291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3200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Docker Container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051560"/>
            <a:ext cx="2926080" cy="3291840"/>
          </a:xfrm>
          <a:prstGeom prst="roundRect">
            <a:avLst/>
          </a:prstGeom>
          <a:solidFill>
            <a:srgbClr val="E6F7FF"/>
          </a:solidFill>
          <a:ln w="19050">
            <a:solidFill>
              <a:srgbClr val="91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143000"/>
            <a:ext cx="12801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143000"/>
            <a:ext cx="1280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TimescaleDB / SQLite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2.5s IoT telemetry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1143000"/>
            <a:ext cx="1371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143000"/>
            <a:ext cx="1371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PostgreSQL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Relational ORM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2743200" cy="45720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FD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7830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D46B08"/>
                </a:solidFill>
                <a:latin typeface="Arial"/>
              </a:rPr>
              <a:t>Python FastAPI REST &amp; WebSocket Server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Async ASGI Event Loop &amp; Pydantic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331720"/>
            <a:ext cx="12801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31720"/>
            <a:ext cx="1280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"/>
              </a:rPr>
              <a:t>IoT Ingestion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2331720"/>
            <a:ext cx="1371600" cy="41148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FD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2331720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D46B08"/>
                </a:solidFill>
                <a:latin typeface="Arial"/>
              </a:rPr>
              <a:t>🐍 AI Inference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34640"/>
            <a:ext cx="2743200" cy="502920"/>
          </a:xfrm>
          <a:prstGeom prst="roundRect">
            <a:avLst/>
          </a:prstGeom>
          <a:solidFill>
            <a:srgbClr val="BAE7FF"/>
          </a:solidFill>
          <a:ln w="12700">
            <a:solidFill>
              <a:srgbClr val="6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34640"/>
            <a:ext cx="2743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050B3"/>
                </a:solidFill>
                <a:latin typeface="Arial"/>
              </a:rPr>
              <a:t>🚨 SIH Emergency Simulator Service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One-Click Stress Simulation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29000"/>
            <a:ext cx="2743200" cy="411480"/>
          </a:xfrm>
          <a:prstGeom prst="roundRect">
            <a:avLst/>
          </a:prstGeom>
          <a:solidFill>
            <a:srgbClr val="F6FFED"/>
          </a:solidFill>
          <a:ln w="12700">
            <a:solidFill>
              <a:srgbClr val="B7E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29000"/>
            <a:ext cx="2743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89E0D"/>
                </a:solidFill>
                <a:latin typeface="Arial"/>
              </a:rPr>
              <a:t>ESP32 LoRa Gateway Ingestion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1051560"/>
            <a:ext cx="274320" cy="3291840"/>
          </a:xfrm>
          <a:prstGeom prst="round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1188720"/>
            <a:ext cx="27432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API GATEWAY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1051560"/>
            <a:ext cx="228600" cy="3291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4320" y="457200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53712"/>
            <a:ext cx="2377440" cy="34747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 SUBSIDENCE PREDICTOR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83480"/>
            <a:ext cx="3474720" cy="68580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FFE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83480"/>
            <a:ext cx="34747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Random Forest ML Engine (MAE: 1.27 | R²: 0.9969)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595959"/>
                </a:solidFill>
                <a:latin typeface="Arial"/>
              </a:rPr>
              <a:t>• Evaluates 10 parameters (tilt, sag, load, temp, hum).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Arial"/>
              </a:rPr>
              <a:t>• Velocity Weighting (42% Weight): Prioritizes 5-min Δdisp/Δt &amp; Δtilt/Δt to catch Stage-1 micro-sagging before collapse.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4983480"/>
            <a:ext cx="320040" cy="1371600"/>
          </a:xfrm>
          <a:prstGeom prst="roundRect">
            <a:avLst/>
          </a:prstGeom>
          <a:solidFill>
            <a:srgbClr val="6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5212080"/>
            <a:ext cx="320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FASTAPI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0" y="64008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621792"/>
            <a:ext cx="1645920" cy="320040"/>
          </a:xfrm>
          <a:prstGeom prst="round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MINE SAFETY ADMIN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105156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1051560"/>
            <a:ext cx="36576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Efficient Task &amp; Strata Management with Web App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• Digitizes DGMS Strata Management Plans (SMP).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• Zero Trust Intranet Access &amp; Centralized Worker Shift Allotment.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Automatic PDF Compliance Reports.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0" y="192024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1901952"/>
            <a:ext cx="219456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UNDERGROUND COAL SEAM</a:t>
            </a:r>
          </a:p>
        </p:txBody>
      </p:sp>
      <p:pic>
        <p:nvPicPr>
          <p:cNvPr id="40" name="Picture 39" descr="mine_subsidenc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86000"/>
            <a:ext cx="3749039" cy="210312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4572000" y="448056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0" y="4462272"/>
            <a:ext cx="210312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ESP32 LORA SENSOR BOARD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0" y="4846320"/>
            <a:ext cx="3749039" cy="155448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FD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4846320"/>
            <a:ext cx="3749039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46B08"/>
                </a:solidFill>
                <a:latin typeface="Arial"/>
              </a:rPr>
              <a:t>Hardware Sensor Node Suite (₹1,590/node):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ESP32 32-bit MCU Board + SX1276 LoRa 868MHz Transceiver (2km range).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MPU6050 Gyro/Accel: Roof tilt θx, θy &amp; vibration acceleration.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Linear String Potentiometer: Roof sag displacement (0-50mm).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HX711 Load Cell Amp: Hydraulic prop stress (0-200kN).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Edge Failover: Triggers local 1kHz piezo siren (GPIO 12/13) on network loss.</a:t>
            </a:r>
          </a:p>
        </p:txBody>
      </p:sp>
      <p:sp>
        <p:nvSpPr>
          <p:cNvPr id="45" name="Oval 44"/>
          <p:cNvSpPr/>
          <p:nvPr/>
        </p:nvSpPr>
        <p:spPr>
          <a:xfrm>
            <a:off x="8503920" y="64008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621792"/>
            <a:ext cx="228600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STRATA CONTROL ENGINEER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0" y="10515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1051560"/>
            <a:ext cx="33832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890FF"/>
                </a:solidFill>
                <a:latin typeface="Arial"/>
              </a:rPr>
              <a:t>React 18 Command Center Dashboard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Stack: React 18, Vite, Tailwind CSS, Recharts 60 FPS, Leaflet Map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Interactive Underground Seam Map: Node badges N1-N6 over Jharia Coalfield #4.</a:t>
            </a:r>
          </a:p>
          <a:p>
            <a:pPr algn="l">
              <a:spcAft>
                <a:spcPts val="100"/>
              </a:spcAft>
            </a:pPr>
            <a:r>
              <a:rPr sz="850" b="1">
                <a:solidFill>
                  <a:srgbClr val="1890FF"/>
                </a:solidFill>
                <a:latin typeface="Arial"/>
              </a:rPr>
              <a:t>• SIH Live Emergency Simulator: 1-click subsidence event demo.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Velocity-Weighted Warnings: Detects pre-failure sagging in Stage 1.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Real-Time 60 FPS Graphs: Rolling tilt, sag, and load curves.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Shift Allotment &amp; Handover Approvals.</a:t>
            </a:r>
          </a:p>
        </p:txBody>
      </p:sp>
      <p:sp>
        <p:nvSpPr>
          <p:cNvPr id="49" name="Oval 48"/>
          <p:cNvSpPr/>
          <p:nvPr/>
        </p:nvSpPr>
        <p:spPr>
          <a:xfrm>
            <a:off x="8503920" y="356616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3547872"/>
            <a:ext cx="228600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SHIFT OPERATORS &amp; SIRENS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3931920"/>
            <a:ext cx="3383280" cy="246888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FFE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3931920"/>
            <a:ext cx="338328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Mobile App &amp; Edge Evacuation Sirens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Stack: SQLite, BLoC, Flutter / Handheld Devices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C2626"/>
                </a:solidFill>
                <a:latin typeface="Arial"/>
              </a:rPr>
              <a:t>• 🔊 1kHz Local Piezo Siren Alarms: Instant audio warnings at mine face.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Quick summary of assigned shifts, tasks, and sag risk alerts.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Log details about tasks, issues, and prop load during rounds.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000000"/>
                </a:solidFill>
                <a:latin typeface="Arial"/>
              </a:rPr>
              <a:t>• Multilingual Indian languages &amp; smart voice-assisted logging.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1890FF"/>
                </a:solidFill>
                <a:latin typeface="Arial"/>
              </a:rPr>
              <a:t>• Live Vercel Deployment: https://mineguard-ai.vercel.app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MineGuard AI - @SIH Idea Submission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5379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109728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MineNova6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FEASIBILITY AND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"/>
            <a:ext cx="1280160" cy="3657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685800"/>
            <a:ext cx="5486400" cy="5669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303520" cy="5486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890FF"/>
                </a:solidFill>
                <a:latin typeface="Arial"/>
              </a:rPr>
              <a:t>Technical Feasibility: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Low power 3.3V DC logic; 3.7V LiFePO4 battery lasts 6+ months with deep sleep cycles.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868MHz LoRa Chirp Spread Spectrum penetrates solid coal/rock strata up to 2km.
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1890FF"/>
                </a:solidFill>
                <a:latin typeface="Arial"/>
              </a:rPr>
              <a:t>Operational Feasibility: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Simple clamp-on roof bolting installation requires zero specialized training for miners.
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1890FF"/>
                </a:solidFill>
                <a:latin typeface="Arial"/>
              </a:rPr>
              <a:t>Economic Feasibility: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₹1,590 ($19 USD) per node; ₹11,990 total panel setup (98.8% savings vs ₹10+ Lakhs cabled systems).
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1890FF"/>
                </a:solidFill>
                <a:latin typeface="Arial"/>
              </a:rPr>
              <a:t>Regulatory Feasibility: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Automates compliance checks for DGMS Strata Management Plans (SMP).
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Market &amp; Sustainable Viability: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TAM: ₹15,000 Cr | SAM: ₹4,500 Cr | SOM: ₹450 Cr in Indian depillaring panels.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685800"/>
            <a:ext cx="5943600" cy="5669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777240"/>
            <a:ext cx="57607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Technical Challenges &amp; Mitigation Matrix:
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1. Explosive Methane Atmosphere ➔ IP67 flameproof polycarbonate enclosure complying with DGMS Intrinsically Safe (IS Ex 'd') standards.
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2. Severe RF Rock Attenuation ➔ 868MHz Chirp Spread Spectrum (CSS) frequency modulation designed for non-line-of-sight penetration.
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3. Network / Server Outages ➔ Edge failover piezo sirens (GPIO 12/13) fire independently &amp; log data to local SD buffer.
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4. Dust &amp; Calibration Drift ➔ Auto-zero calibration routines on startup with protective IP65 dust-filtering membranes.</a:t>
            </a:r>
          </a:p>
        </p:txBody>
      </p:sp>
      <p:pic>
        <p:nvPicPr>
          <p:cNvPr id="10" name="Picture 9" descr="sensor_node_final_produc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840480"/>
            <a:ext cx="5577840" cy="2377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MineGuard AI - @SIH Idea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5379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109728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MineNova6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IMPACTS AND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"/>
            <a:ext cx="1280160" cy="3657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OUR PROMISE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685800"/>
            <a:ext cx="3749039" cy="164592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FD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35661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D46B08"/>
                </a:solidFill>
                <a:latin typeface="Arial"/>
              </a:rPr>
              <a:t>Economic Benefits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Prevents multi-crore losses from damaged hydraulic supports, continuous miners, mine closure penalties, and legal compensation.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685800"/>
            <a:ext cx="3749039" cy="164592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FFE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777240"/>
            <a:ext cx="35661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D97706"/>
                </a:solidFill>
                <a:latin typeface="Arial"/>
              </a:rPr>
              <a:t>Social Benefits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Protects 300,000+ underground miners in India by eliminating unpredicted roof collapses, fostering a zero-casualty safety culture.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685800"/>
            <a:ext cx="3749039" cy="1645920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91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777240"/>
            <a:ext cx="35661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890FF"/>
                </a:solidFill>
                <a:latin typeface="Arial"/>
              </a:rPr>
              <a:t>Environmental Benefits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Prevents surface land fissuring, groundwater table depletion, and soil degradation above mined-out panels.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68880"/>
            <a:ext cx="11612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560320"/>
            <a:ext cx="114300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890FF"/>
                </a:solidFill>
                <a:latin typeface="Arial"/>
              </a:rPr>
              <a:t>STAKEHOLDERS &amp; EVACUATION WORKFLOW: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👷 Underground Miner / Operator ➔ Gets instant 1kHz piezo siren audio alarm at mine face for safe evacuation.
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👮 Shift Safety Officer ➔ Receives real-time risk alert notification on mobile/handheld device with exact seam coordinates.
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👨‍💼 Strata Control Engineer ➔ Analyzes 10-parameter AI graphs to plan preventive roof bolting &amp; prop reinforcement.
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🏛️ DGMS &amp; Mine Management ➔ Accesses automated digital log reports for regulatory safety audits.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572000"/>
            <a:ext cx="11612880" cy="178308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FFE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663440"/>
            <a:ext cx="1143000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UN Sustainable Development Goals &amp; National Coal Target: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SDG 3 (Good Health) | SDG 8 (Decent Work) | SDG 9 (Industry &amp; Innovation) | SDG 12 (Responsible Production).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• Alignment with India's Goal: Supports Coal India's mission of producing 1.5 Billion Tons of Coal by 2030 safely.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MineGuard AI - @SIH Idea 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0" y="65379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109728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MineNova6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"/>
            <a:ext cx="1280160" cy="3657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MARKET &amp; BOM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685800"/>
            <a:ext cx="5943600" cy="5669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760720" cy="5394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890FF"/>
                </a:solidFill>
                <a:latin typeface="Arial"/>
              </a:rPr>
              <a:t>Geotechnical Research &amp; Market Economics: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DGMS Strata Management Plan (SMP) Technical Circulars &amp; CSIR-CIMFR Depillaring Stress Studies.
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TAM: ₹15,000 Cr ($1.8B) | SAM: ₹4,500 Cr (CIL &amp; SCCL Mines) | SOM: ₹450 Cr (High-Risk Panels).
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Itemized BOM Unit Economics (₹1,590 per Node):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1. ESP32 32-bit MCU Board ➔ ₹450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2. SX1276 LoRa 868MHz Transceiver ➔ ₹350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3. MPU6050 Motion Sensor ➔ ₹150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4. Linear String Potentiometer (0-50mm Sag) ➔ ₹300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5. HX711 Load Cell Amp &amp; Sensor (0-200kN) ➔ ₹250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6. Polycarbonate Enclosure &amp; PCB ➔ ₹90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685800"/>
            <a:ext cx="5486400" cy="5669280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91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777240"/>
            <a:ext cx="5303520" cy="5394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890FF"/>
                </a:solidFill>
                <a:latin typeface="Arial"/>
              </a:rPr>
              <a:t>Technical References &amp; Project Links: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Hardware &amp; Standards References:
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Semtech SX1276 LoRa 868MHz Chirp Spread Spectrum Technical Datasheet.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IS/IEC 60079 Explosive Atmospheres &amp; Intrinsically Safe (IS Ex 'd') Standard.
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Software &amp; AI Model References:
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scikit-learn Random Forest Regressor &amp; Classifier Ensemble Documentation.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• Python FastAPI Async ASGI &amp; SQLAlchemy ORM Time-Series Architecture.
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Official Project Live Links:
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0FF"/>
                </a:solidFill>
                <a:latin typeface="Arial"/>
              </a:rPr>
              <a:t>🌐 Live Web Dashboard: https://mineguard-ai.vercel.app</a:t>
            </a:r>
          </a:p>
          <a:p>
            <a:pPr algn="l">
              <a:spcAft>
                <a:spcPts val="0"/>
              </a:spcAft>
            </a:pPr>
            <a:r>
              <a:rPr sz="1050" b="1">
                <a:solidFill>
                  <a:srgbClr val="1890FF"/>
                </a:solidFill>
                <a:latin typeface="Arial"/>
              </a:rPr>
              <a:t>🐙 GitHub Repository: https://github.com/sharequesyed/MineGuard-AI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MineGuard AI - @SIH Idea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5379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